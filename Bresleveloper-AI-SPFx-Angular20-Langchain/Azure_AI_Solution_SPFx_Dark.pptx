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23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91AC5-F7F3-2427-8CB3-FE94153A9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8AF21-D961-76CF-B706-C46EC49DF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FCC98-716D-A81E-DEF8-3613D228E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7B3F6-5F63-A43D-B949-E2B5869CE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92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.png"/><Relationship Id="rId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.pn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2.png"/><Relationship Id="rId7" Type="http://schemas.openxmlformats.org/officeDocument/2006/relationships/image" Target="../media/image31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b71ab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53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03793" y="2826258"/>
            <a:ext cx="73362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33"/>
              </a:lnSpc>
              <a:spcAft>
                <a:spcPts val="2250"/>
              </a:spcAft>
            </a:pPr>
            <a:r>
              <a:rPr lang="en-US" sz="4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SPFx with Local AI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2735622" y="3158435"/>
            <a:ext cx="3672459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2250"/>
              </a:spcAft>
              <a:buNone/>
            </a:pP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449126" y="3363585"/>
            <a:ext cx="7336265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32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for IT &amp; Management Concerns</a:t>
            </a:r>
            <a:endParaRPr lang="en-US" sz="1320" dirty="0"/>
          </a:p>
        </p:txBody>
      </p:sp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9A0D4E68-23C3-9C8D-FCC8-A11092136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61758"/>
            <a:ext cx="9144000" cy="1279212"/>
          </a:xfrm>
          <a:prstGeom prst="rect">
            <a:avLst/>
          </a:prstGeom>
        </p:spPr>
      </p:pic>
      <p:pic>
        <p:nvPicPr>
          <p:cNvPr id="3" name="Picture 4" descr="Custom SharePoint Development with SPFx - GEM365">
            <a:extLst>
              <a:ext uri="{FF2B5EF4-FFF2-40B4-BE49-F238E27FC236}">
                <a16:creationId xmlns:a16="http://schemas.microsoft.com/office/drawing/2014/main" id="{D3AD02B4-F80C-5C4D-0BE5-543191185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699" y="-188427"/>
            <a:ext cx="4556675" cy="300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Ollama Logo Free Download SVG, PNG a... · LobeHub">
            <a:extLst>
              <a:ext uri="{FF2B5EF4-FFF2-40B4-BE49-F238E27FC236}">
                <a16:creationId xmlns:a16="http://schemas.microsoft.com/office/drawing/2014/main" id="{6950B646-CB59-3561-B5E3-73865A6B9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70" y="332792"/>
            <a:ext cx="1966689" cy="196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Ollama Logo Free Download SVG, PNG a... · LobeHub">
            <a:extLst>
              <a:ext uri="{FF2B5EF4-FFF2-40B4-BE49-F238E27FC236}">
                <a16:creationId xmlns:a16="http://schemas.microsoft.com/office/drawing/2014/main" id="{0C8D3860-AE26-A851-B509-9024D066E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03" y="3093711"/>
            <a:ext cx="2047525" cy="56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penRouter Logo Free Download SVG, P... · LobeHub">
            <a:extLst>
              <a:ext uri="{FF2B5EF4-FFF2-40B4-BE49-F238E27FC236}">
                <a16:creationId xmlns:a16="http://schemas.microsoft.com/office/drawing/2014/main" id="{8E96926B-5388-90FE-0D85-60CCC65BB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565" y="805668"/>
            <a:ext cx="1363493" cy="1363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OpenRouter Logo Free Download SVG, P... · LobeHub">
            <a:extLst>
              <a:ext uri="{FF2B5EF4-FFF2-40B4-BE49-F238E27FC236}">
                <a16:creationId xmlns:a16="http://schemas.microsoft.com/office/drawing/2014/main" id="{7A4BBC99-093B-5CB2-980F-7BAF53CC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789" y="3158435"/>
            <a:ext cx="3364535" cy="56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6907E-C3F3-CB11-0E6E-E9DDA907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b71ab2b.png">
            <a:extLst>
              <a:ext uri="{FF2B5EF4-FFF2-40B4-BE49-F238E27FC236}">
                <a16:creationId xmlns:a16="http://schemas.microsoft.com/office/drawing/2014/main" id="{AD44F105-475A-1002-14A2-A060ED471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30"/>
            <a:ext cx="9144000" cy="51435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6D2B7A6-79B4-7172-546E-28BF3F5C1885}"/>
              </a:ext>
            </a:extLst>
          </p:cNvPr>
          <p:cNvSpPr/>
          <p:nvPr/>
        </p:nvSpPr>
        <p:spPr>
          <a:xfrm>
            <a:off x="903793" y="2497847"/>
            <a:ext cx="73362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Azure AI Challenges</a:t>
            </a:r>
            <a:endParaRPr lang="en-US" sz="4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4F3A9AA-22A8-A44C-E059-45136E375047}"/>
              </a:ext>
            </a:extLst>
          </p:cNvPr>
          <p:cNvSpPr/>
          <p:nvPr/>
        </p:nvSpPr>
        <p:spPr>
          <a:xfrm>
            <a:off x="2735622" y="3158435"/>
            <a:ext cx="3672459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spcAft>
                <a:spcPts val="2250"/>
              </a:spcAft>
              <a:buNone/>
            </a:pPr>
            <a:r>
              <a:rPr lang="en-US" sz="2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SPFx with Local AI</a:t>
            </a:r>
            <a:endParaRPr lang="en-US" sz="21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C1B45D7-D4BA-CBE4-D04A-516DCE265839}"/>
              </a:ext>
            </a:extLst>
          </p:cNvPr>
          <p:cNvSpPr/>
          <p:nvPr/>
        </p:nvSpPr>
        <p:spPr>
          <a:xfrm>
            <a:off x="903718" y="3515009"/>
            <a:ext cx="7336265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32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for IT &amp; Management Concerns</a:t>
            </a:r>
            <a:endParaRPr lang="en-US" sz="1320" dirty="0"/>
          </a:p>
        </p:txBody>
      </p:sp>
      <p:pic>
        <p:nvPicPr>
          <p:cNvPr id="1028" name="Picture 4" descr="Microsoft Azure - Wikipedia">
            <a:extLst>
              <a:ext uri="{FF2B5EF4-FFF2-40B4-BE49-F238E27FC236}">
                <a16:creationId xmlns:a16="http://schemas.microsoft.com/office/drawing/2014/main" id="{F70F61C6-B604-5DFB-5A03-A69288FB6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93" y="300156"/>
            <a:ext cx="2034540" cy="203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zure AI services pricing | Microsoft Azure">
            <a:extLst>
              <a:ext uri="{FF2B5EF4-FFF2-40B4-BE49-F238E27FC236}">
                <a16:creationId xmlns:a16="http://schemas.microsoft.com/office/drawing/2014/main" id="{DE456F71-EBAE-9569-235A-C2B8C52BE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702" y="468841"/>
            <a:ext cx="3340302" cy="175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0531CD5D-6C83-C687-6669-57BD4CE76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985" y="376386"/>
            <a:ext cx="1972717" cy="197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D29EBFDB-3419-7D9F-A641-50D288E228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861758"/>
            <a:ext cx="9144000" cy="127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82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24000" y="28575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50A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with Azure AI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524000" y="704850"/>
            <a:ext cx="7519797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300"/>
              </a:spcBef>
              <a:buNone/>
            </a:pPr>
            <a:r>
              <a:rPr lang="en-US" sz="114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&amp; Management are Hesitant</a:t>
            </a:r>
            <a:endParaRPr lang="en-US" sz="1140" dirty="0"/>
          </a:p>
        </p:txBody>
      </p:sp>
      <p:sp>
        <p:nvSpPr>
          <p:cNvPr id="5" name="Text 2"/>
          <p:cNvSpPr/>
          <p:nvPr/>
        </p:nvSpPr>
        <p:spPr>
          <a:xfrm>
            <a:off x="571500" y="1168152"/>
            <a:ext cx="8001000" cy="514350"/>
          </a:xfrm>
          <a:prstGeom prst="roundRect">
            <a:avLst>
              <a:gd name="adj" fmla="val 14815"/>
            </a:avLst>
          </a:prstGeom>
          <a:solidFill>
            <a:srgbClr val="2D2D2D"/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85788" y="1168152"/>
            <a:ext cx="0" cy="514350"/>
          </a:xfrm>
          <a:prstGeom prst="line">
            <a:avLst/>
          </a:prstGeom>
          <a:noFill/>
          <a:ln w="28575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7" name="Image 1" descr="/tmp/rasterized-svg-082859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1263402"/>
            <a:ext cx="323850" cy="3238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1575" y="1329333"/>
            <a:ext cx="4111023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Azure settings and provisions create deployment barriers</a:t>
            </a:r>
            <a:endParaRPr lang="en-US" sz="1080" dirty="0"/>
          </a:p>
        </p:txBody>
      </p:sp>
      <p:sp>
        <p:nvSpPr>
          <p:cNvPr id="9" name="Text 5"/>
          <p:cNvSpPr/>
          <p:nvPr/>
        </p:nvSpPr>
        <p:spPr>
          <a:xfrm>
            <a:off x="571500" y="1768227"/>
            <a:ext cx="8001000" cy="514350"/>
          </a:xfrm>
          <a:prstGeom prst="roundRect">
            <a:avLst>
              <a:gd name="adj" fmla="val 14815"/>
            </a:avLst>
          </a:prstGeom>
          <a:solidFill>
            <a:srgbClr val="2D2D2D"/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85788" y="1768227"/>
            <a:ext cx="0" cy="514350"/>
          </a:xfrm>
          <a:prstGeom prst="line">
            <a:avLst/>
          </a:prstGeom>
          <a:noFill/>
          <a:ln w="28575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1" name="Image 2" descr="/tmp/rasterized-svg-fee473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1863477"/>
            <a:ext cx="323850" cy="3238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1575" y="1929408"/>
            <a:ext cx="404908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services cost double compared to standard counterparts</a:t>
            </a:r>
            <a:endParaRPr lang="en-US" sz="1080" dirty="0"/>
          </a:p>
        </p:txBody>
      </p:sp>
      <p:sp>
        <p:nvSpPr>
          <p:cNvPr id="13" name="Text 8"/>
          <p:cNvSpPr/>
          <p:nvPr/>
        </p:nvSpPr>
        <p:spPr>
          <a:xfrm>
            <a:off x="571500" y="2368302"/>
            <a:ext cx="8001000" cy="514350"/>
          </a:xfrm>
          <a:prstGeom prst="roundRect">
            <a:avLst>
              <a:gd name="adj" fmla="val 14815"/>
            </a:avLst>
          </a:prstGeom>
          <a:solidFill>
            <a:srgbClr val="2D2D2D"/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85788" y="2368302"/>
            <a:ext cx="0" cy="514350"/>
          </a:xfrm>
          <a:prstGeom prst="line">
            <a:avLst/>
          </a:prstGeom>
          <a:noFill/>
          <a:ln w="28575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5" name="Image 3" descr="/tmp/rasterized-svg-b160d6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463552"/>
            <a:ext cx="323850" cy="3238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1575" y="2529483"/>
            <a:ext cx="367564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user permissions via AI may expose restricted data</a:t>
            </a:r>
            <a:endParaRPr lang="en-US" sz="1080" dirty="0"/>
          </a:p>
        </p:txBody>
      </p:sp>
      <p:sp>
        <p:nvSpPr>
          <p:cNvPr id="17" name="Text 11"/>
          <p:cNvSpPr/>
          <p:nvPr/>
        </p:nvSpPr>
        <p:spPr>
          <a:xfrm>
            <a:off x="571500" y="2968377"/>
            <a:ext cx="8001000" cy="514350"/>
          </a:xfrm>
          <a:prstGeom prst="roundRect">
            <a:avLst>
              <a:gd name="adj" fmla="val 14815"/>
            </a:avLst>
          </a:prstGeom>
          <a:solidFill>
            <a:srgbClr val="2D2D2D"/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585788" y="2968377"/>
            <a:ext cx="0" cy="514350"/>
          </a:xfrm>
          <a:prstGeom prst="line">
            <a:avLst/>
          </a:prstGeom>
          <a:noFill/>
          <a:ln w="28575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9" name="Image 4" descr="/tmp/rasterized-svg-e0718c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3063627"/>
            <a:ext cx="323850" cy="3238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71575" y="3129558"/>
            <a:ext cx="3458718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toolbox actions not clear - potential for data sabotage</a:t>
            </a:r>
            <a:endParaRPr lang="en-US" sz="1080" dirty="0"/>
          </a:p>
        </p:txBody>
      </p:sp>
      <p:sp>
        <p:nvSpPr>
          <p:cNvPr id="21" name="Text 14"/>
          <p:cNvSpPr/>
          <p:nvPr/>
        </p:nvSpPr>
        <p:spPr>
          <a:xfrm>
            <a:off x="571500" y="3568452"/>
            <a:ext cx="8001000" cy="514350"/>
          </a:xfrm>
          <a:prstGeom prst="roundRect">
            <a:avLst>
              <a:gd name="adj" fmla="val 14815"/>
            </a:avLst>
          </a:prstGeom>
          <a:solidFill>
            <a:srgbClr val="2D2D2D"/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585788" y="3568452"/>
            <a:ext cx="0" cy="514350"/>
          </a:xfrm>
          <a:prstGeom prst="line">
            <a:avLst/>
          </a:prstGeom>
          <a:noFill/>
          <a:ln w="28575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5" descr="/tmp/rasterized-svg-b499734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663702"/>
            <a:ext cx="323850" cy="3238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71575" y="3729633"/>
            <a:ext cx="3877851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services raise legal concerns for restricted data access</a:t>
            </a:r>
            <a:endParaRPr lang="en-US" sz="1080" dirty="0"/>
          </a:p>
        </p:txBody>
      </p:sp>
      <p:sp>
        <p:nvSpPr>
          <p:cNvPr id="25" name="Text 17"/>
          <p:cNvSpPr/>
          <p:nvPr/>
        </p:nvSpPr>
        <p:spPr>
          <a:xfrm>
            <a:off x="571500" y="4168527"/>
            <a:ext cx="8001000" cy="514350"/>
          </a:xfrm>
          <a:prstGeom prst="roundRect">
            <a:avLst>
              <a:gd name="adj" fmla="val 14815"/>
            </a:avLst>
          </a:prstGeom>
          <a:solidFill>
            <a:srgbClr val="2D2D2D"/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18"/>
          <p:cNvSpPr/>
          <p:nvPr/>
        </p:nvSpPr>
        <p:spPr>
          <a:xfrm>
            <a:off x="585788" y="4168527"/>
            <a:ext cx="0" cy="514350"/>
          </a:xfrm>
          <a:prstGeom prst="line">
            <a:avLst/>
          </a:prstGeom>
          <a:noFill/>
          <a:ln w="28575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7" name="Image 6" descr="/tmp/rasterized-svg-1c7d2a3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4263777"/>
            <a:ext cx="323850" cy="3238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71575" y="4329708"/>
            <a:ext cx="335473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services prevent IT from guaranteeing security</a:t>
            </a:r>
            <a:endParaRPr lang="en-US" sz="1080" dirty="0"/>
          </a:p>
        </p:txBody>
      </p:sp>
      <p:pic>
        <p:nvPicPr>
          <p:cNvPr id="29" name="Picture 4" descr="Microsoft Azure - Wikipedia">
            <a:extLst>
              <a:ext uri="{FF2B5EF4-FFF2-40B4-BE49-F238E27FC236}">
                <a16:creationId xmlns:a16="http://schemas.microsoft.com/office/drawing/2014/main" id="{0D33FF01-9147-ADB0-2157-010677899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26" y="129124"/>
            <a:ext cx="853497" cy="85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A close up of a sign&#10;&#10;AI-generated content may be incorrect.">
            <a:extLst>
              <a:ext uri="{FF2B5EF4-FFF2-40B4-BE49-F238E27FC236}">
                <a16:creationId xmlns:a16="http://schemas.microsoft.com/office/drawing/2014/main" id="{B4F30EFA-A94B-86A4-6361-2E6F14948C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9255" y="4521697"/>
            <a:ext cx="4444745" cy="621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82928" y="285750"/>
            <a:ext cx="37696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582928" y="704850"/>
            <a:ext cx="7519797" cy="28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68"/>
              </a:lnSpc>
              <a:spcBef>
                <a:spcPts val="300"/>
              </a:spcBef>
              <a:buNone/>
            </a:pPr>
            <a:r>
              <a:rPr lang="en-US" sz="1620" b="1" dirty="0">
                <a:solidFill>
                  <a:srgbClr val="50A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SPFx with Local AI</a:t>
            </a:r>
            <a:endParaRPr lang="en-US" sz="1620" dirty="0"/>
          </a:p>
        </p:txBody>
      </p:sp>
      <p:pic>
        <p:nvPicPr>
          <p:cNvPr id="5" name="Image 1" descr="/tmp/rasterized-gradient-871553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05967"/>
            <a:ext cx="8001000" cy="704850"/>
          </a:xfrm>
          <a:prstGeom prst="rect">
            <a:avLst/>
          </a:prstGeom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6" name="Image 2" descr="/tmp/rasterized-svg-62c97b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448842"/>
            <a:ext cx="419100" cy="419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23975" y="1551682"/>
            <a:ext cx="48134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SPFx inherits current user's permissions to SharePoint and Office 365</a:t>
            </a:r>
            <a:endParaRPr lang="en-US" sz="1200" dirty="0"/>
          </a:p>
        </p:txBody>
      </p:sp>
      <p:pic>
        <p:nvPicPr>
          <p:cNvPr id="8" name="Image 3" descr="/tmp/rasterized-gradient-fb242d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63217"/>
            <a:ext cx="8001000" cy="704850"/>
          </a:xfrm>
          <a:prstGeom prst="rect">
            <a:avLst/>
          </a:prstGeom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9" name="Image 4" descr="/tmp/rasterized-svg-30b00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306092"/>
            <a:ext cx="419100" cy="4191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323975" y="2408932"/>
            <a:ext cx="47697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SPFx uses locally-controlled code developed by company employees</a:t>
            </a:r>
            <a:endParaRPr lang="en-US" sz="1200" dirty="0"/>
          </a:p>
        </p:txBody>
      </p:sp>
      <p:pic>
        <p:nvPicPr>
          <p:cNvPr id="11" name="Image 5" descr="/tmp/rasterized-gradient-c7d7309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020467"/>
            <a:ext cx="8001000" cy="704850"/>
          </a:xfrm>
          <a:prstGeom prst="rect">
            <a:avLst/>
          </a:prstGeom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12" name="Image 6" descr="/tmp/rasterized-svg-c9e9ba4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3163342"/>
            <a:ext cx="419100" cy="41910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323975" y="3266182"/>
            <a:ext cx="48906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AI provides full control, zero external costs, and complete logging</a:t>
            </a:r>
            <a:endParaRPr lang="en-US" sz="1200" dirty="0"/>
          </a:p>
        </p:txBody>
      </p:sp>
      <p:pic>
        <p:nvPicPr>
          <p:cNvPr id="14" name="Image 7" descr="/tmp/rasterized-gradient-7a6d9f8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877717"/>
            <a:ext cx="8001000" cy="704850"/>
          </a:xfrm>
          <a:prstGeom prst="rect">
            <a:avLst/>
          </a:prstGeom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15" name="Image 8" descr="/tmp/rasterized-svg-7b4bf1d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4020592"/>
            <a:ext cx="419100" cy="41910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323975" y="4123432"/>
            <a:ext cx="46569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server hosting ensures full control and access restrictions</a:t>
            </a:r>
            <a:endParaRPr lang="en-US" sz="1200" dirty="0"/>
          </a:p>
        </p:txBody>
      </p:sp>
      <p:pic>
        <p:nvPicPr>
          <p:cNvPr id="2050" name="Picture 2" descr="SharePoint Framework (SPFx) come iniziare / Sgart.it">
            <a:extLst>
              <a:ext uri="{FF2B5EF4-FFF2-40B4-BE49-F238E27FC236}">
                <a16:creationId xmlns:a16="http://schemas.microsoft.com/office/drawing/2014/main" id="{AC06EEB2-6103-6122-634C-32594D806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304" y="306315"/>
            <a:ext cx="1922318" cy="72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ustom SharePoint Development with SPFx - GEM365">
            <a:extLst>
              <a:ext uri="{FF2B5EF4-FFF2-40B4-BE49-F238E27FC236}">
                <a16:creationId xmlns:a16="http://schemas.microsoft.com/office/drawing/2014/main" id="{1285AA22-C7B7-B05E-85D2-4717616B0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26" y="158075"/>
            <a:ext cx="1507459" cy="99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9F5A7FF7-C8F6-0D2A-F19E-F45D9BB0E61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9255" y="4521697"/>
            <a:ext cx="4444745" cy="621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12014" y="323925"/>
            <a:ext cx="37696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Solved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712014" y="743025"/>
            <a:ext cx="75197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50A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IT Control &amp; Security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230660"/>
            <a:ext cx="8001000" cy="495300"/>
          </a:xfrm>
          <a:prstGeom prst="roundRect">
            <a:avLst>
              <a:gd name="adj" fmla="val 15385"/>
            </a:avLst>
          </a:prstGeom>
          <a:solidFill>
            <a:srgbClr val="00D4AA">
              <a:alpha val="8000"/>
            </a:srgbClr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85788" y="1230660"/>
            <a:ext cx="0" cy="49530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7" name="Image 1" descr="/tmp/rasterized-svg-ab2ac3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1325910"/>
            <a:ext cx="304800" cy="30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2525" y="1382316"/>
            <a:ext cx="317848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complex Azure settings and provisions required</a:t>
            </a:r>
            <a:endParaRPr lang="en-US" sz="1080" dirty="0"/>
          </a:p>
        </p:txBody>
      </p:sp>
      <p:sp>
        <p:nvSpPr>
          <p:cNvPr id="9" name="Text 5"/>
          <p:cNvSpPr/>
          <p:nvPr/>
        </p:nvSpPr>
        <p:spPr>
          <a:xfrm>
            <a:off x="571500" y="1811685"/>
            <a:ext cx="8001000" cy="495300"/>
          </a:xfrm>
          <a:prstGeom prst="roundRect">
            <a:avLst>
              <a:gd name="adj" fmla="val 15385"/>
            </a:avLst>
          </a:prstGeom>
          <a:solidFill>
            <a:srgbClr val="00D4AA">
              <a:alpha val="8000"/>
            </a:srgbClr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85788" y="1811685"/>
            <a:ext cx="0" cy="49530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1" name="Image 2" descr="/tmp/rasterized-svg-0e3ff96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1906935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2525" y="1963341"/>
            <a:ext cx="3403765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ongoing costs other than server/GPU infrastructure</a:t>
            </a:r>
            <a:endParaRPr lang="en-US" sz="1080" dirty="0"/>
          </a:p>
        </p:txBody>
      </p:sp>
      <p:sp>
        <p:nvSpPr>
          <p:cNvPr id="13" name="Text 8"/>
          <p:cNvSpPr/>
          <p:nvPr/>
        </p:nvSpPr>
        <p:spPr>
          <a:xfrm>
            <a:off x="571500" y="2392710"/>
            <a:ext cx="8001000" cy="495300"/>
          </a:xfrm>
          <a:prstGeom prst="roundRect">
            <a:avLst>
              <a:gd name="adj" fmla="val 15385"/>
            </a:avLst>
          </a:prstGeom>
          <a:solidFill>
            <a:srgbClr val="00D4AA">
              <a:alpha val="8000"/>
            </a:srgbClr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85788" y="2392710"/>
            <a:ext cx="0" cy="49530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5" name="Image 3" descr="/tmp/rasterized-svg-a32241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487960"/>
            <a:ext cx="304800" cy="304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52525" y="2544366"/>
            <a:ext cx="4051819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AI permissions - inherits current user's access rights</a:t>
            </a:r>
            <a:endParaRPr lang="en-US" sz="1080" dirty="0"/>
          </a:p>
        </p:txBody>
      </p:sp>
      <p:sp>
        <p:nvSpPr>
          <p:cNvPr id="17" name="Text 11"/>
          <p:cNvSpPr/>
          <p:nvPr/>
        </p:nvSpPr>
        <p:spPr>
          <a:xfrm>
            <a:off x="571500" y="2973735"/>
            <a:ext cx="8001000" cy="495300"/>
          </a:xfrm>
          <a:prstGeom prst="roundRect">
            <a:avLst>
              <a:gd name="adj" fmla="val 15385"/>
            </a:avLst>
          </a:prstGeom>
          <a:solidFill>
            <a:srgbClr val="00D4AA">
              <a:alpha val="8000"/>
            </a:srgbClr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585788" y="2973735"/>
            <a:ext cx="0" cy="49530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9" name="Image 4" descr="/tmp/rasterized-svg-98f83e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3068985"/>
            <a:ext cx="304800" cy="304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52525" y="3125391"/>
            <a:ext cx="360642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unknown AI tools - AI cannot take independent actions</a:t>
            </a:r>
            <a:endParaRPr lang="en-US" sz="1080" dirty="0"/>
          </a:p>
        </p:txBody>
      </p:sp>
      <p:sp>
        <p:nvSpPr>
          <p:cNvPr id="21" name="Text 14"/>
          <p:cNvSpPr/>
          <p:nvPr/>
        </p:nvSpPr>
        <p:spPr>
          <a:xfrm>
            <a:off x="571500" y="3554760"/>
            <a:ext cx="8001000" cy="495300"/>
          </a:xfrm>
          <a:prstGeom prst="roundRect">
            <a:avLst>
              <a:gd name="adj" fmla="val 15385"/>
            </a:avLst>
          </a:prstGeom>
          <a:solidFill>
            <a:srgbClr val="00D4AA">
              <a:alpha val="8000"/>
            </a:srgbClr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585788" y="3554760"/>
            <a:ext cx="0" cy="49530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5" descr="/tmp/rasterized-svg-fb6feea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650010"/>
            <a:ext cx="304800" cy="3048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52525" y="3706416"/>
            <a:ext cx="428210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services - legal has already approved user access to data</a:t>
            </a:r>
            <a:endParaRPr lang="en-US" sz="1080" dirty="0"/>
          </a:p>
        </p:txBody>
      </p:sp>
      <p:sp>
        <p:nvSpPr>
          <p:cNvPr id="25" name="Text 17"/>
          <p:cNvSpPr/>
          <p:nvPr/>
        </p:nvSpPr>
        <p:spPr>
          <a:xfrm>
            <a:off x="571500" y="4135785"/>
            <a:ext cx="8001000" cy="495300"/>
          </a:xfrm>
          <a:prstGeom prst="roundRect">
            <a:avLst>
              <a:gd name="adj" fmla="val 15385"/>
            </a:avLst>
          </a:prstGeom>
          <a:solidFill>
            <a:srgbClr val="00D4AA">
              <a:alpha val="8000"/>
            </a:srgbClr>
          </a:solidFill>
          <a:ln/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18"/>
          <p:cNvSpPr/>
          <p:nvPr/>
        </p:nvSpPr>
        <p:spPr>
          <a:xfrm>
            <a:off x="585788" y="4135785"/>
            <a:ext cx="0" cy="49530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7" name="Image 6" descr="/tmp/rasterized-svg-8fc5d34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4231035"/>
            <a:ext cx="304800" cy="3048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52525" y="4287441"/>
            <a:ext cx="43027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dependency - IT has full control over security environment</a:t>
            </a:r>
            <a:endParaRPr lang="en-US" sz="1080" dirty="0"/>
          </a:p>
        </p:txBody>
      </p:sp>
      <p:pic>
        <p:nvPicPr>
          <p:cNvPr id="4098" name="Picture 2" descr="It department - Free computer icons">
            <a:extLst>
              <a:ext uri="{FF2B5EF4-FFF2-40B4-BE49-F238E27FC236}">
                <a16:creationId xmlns:a16="http://schemas.microsoft.com/office/drawing/2014/main" id="{6A31CC9A-D7E1-677F-489D-D50CD10F7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60" y="212675"/>
            <a:ext cx="866329" cy="866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1972A08-1804-16E0-56D3-2D646A18B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954" y="-120649"/>
            <a:ext cx="1525361" cy="164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A close up of a sign&#10;&#10;AI-generated content may be incorrect.">
            <a:extLst>
              <a:ext uri="{FF2B5EF4-FFF2-40B4-BE49-F238E27FC236}">
                <a16:creationId xmlns:a16="http://schemas.microsoft.com/office/drawing/2014/main" id="{D8FD94EF-FBA4-6D47-6337-F8A967AAB6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9255" y="4521697"/>
            <a:ext cx="4444745" cy="6218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205</Words>
  <Application>Microsoft Office PowerPoint</Application>
  <PresentationFormat>On-screen Show (16:9)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Azure AI Challenges with SPFx and Local AI - Modern Dark Theme</dc:title>
  <dc:subject>PptxGenJS Presentation</dc:subject>
  <dc:creator>IT Solution Architect</dc:creator>
  <cp:lastModifiedBy>Ariel Rubynstein Admin</cp:lastModifiedBy>
  <cp:revision>4</cp:revision>
  <dcterms:created xsi:type="dcterms:W3CDTF">2025-11-08T21:56:37Z</dcterms:created>
  <dcterms:modified xsi:type="dcterms:W3CDTF">2025-11-09T00:34:22Z</dcterms:modified>
</cp:coreProperties>
</file>